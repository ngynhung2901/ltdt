
<file path=[Content_Types].xml><?xml version="1.0" encoding="utf-8"?>
<Types xmlns="http://schemas.openxmlformats.org/package/2006/content-types">
  <Default Extension="jpeg" ContentType="image/jpeg"/>
  <Default Extension="JPG" ContentType="image/.jpg"/>
  <Default Extension="gif" ContentType="image/gi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media/image15.svg" ContentType="image/svg+xml"/>
  <Override PartName="/ppt/media/image3.svg" ContentType="image/svg+xml"/>
  <Override PartName="/ppt/media/image5.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
  </p:notesMasterIdLst>
  <p:sldIdLst>
    <p:sldId id="256" r:id="rId3"/>
    <p:sldId id="257" r:id="rId5"/>
    <p:sldId id="258" r:id="rId6"/>
    <p:sldId id="259" r:id="rId7"/>
    <p:sldId id="266" r:id="rId8"/>
    <p:sldId id="260" r:id="rId9"/>
    <p:sldId id="261" r:id="rId10"/>
    <p:sldId id="262" r:id="rId11"/>
    <p:sldId id="263" r:id="rId12"/>
    <p:sldId id="264" r:id="rId13"/>
    <p:sldId id="265" r:id="rId14"/>
  </p:sldIdLst>
  <p:sldSz cx="18288000" cy="10287000"/>
  <p:notesSz cx="6858000" cy="9144000"/>
  <p:embeddedFontLst>
    <p:embeddedFont>
      <p:font typeface="Baloo" panose="03080902040302020200"/>
      <p:regular r:id="rId18"/>
    </p:embeddedFont>
    <p:embeddedFont>
      <p:font typeface="Clear Sans Bold" panose="020B0803030202020304"/>
      <p:bold r:id="rId19"/>
    </p:embeddedFont>
    <p:embeddedFont>
      <p:font typeface="Clear Sans" panose="020B0503030202020304"/>
      <p:regular r:id="rId20"/>
    </p:embeddedFont>
    <p:embeddedFont>
      <p:font typeface="Calibri" panose="020F0502020204030204" charset="0"/>
      <p:regular r:id="rId21"/>
      <p:bold r:id="rId22"/>
      <p:italic r:id="rId23"/>
      <p:boldItalic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4" Type="http://schemas.openxmlformats.org/officeDocument/2006/relationships/font" Target="fonts/font7.fntdata"/><Relationship Id="rId23" Type="http://schemas.openxmlformats.org/officeDocument/2006/relationships/font" Target="fonts/font6.fntdata"/><Relationship Id="rId22" Type="http://schemas.openxmlformats.org/officeDocument/2006/relationships/font" Target="fonts/font5.fntdata"/><Relationship Id="rId21" Type="http://schemas.openxmlformats.org/officeDocument/2006/relationships/font" Target="fonts/font4.fntdata"/><Relationship Id="rId20" Type="http://schemas.openxmlformats.org/officeDocument/2006/relationships/font" Target="fonts/font3.fntdata"/><Relationship Id="rId2" Type="http://schemas.openxmlformats.org/officeDocument/2006/relationships/theme" Target="theme/theme1.xml"/><Relationship Id="rId19" Type="http://schemas.openxmlformats.org/officeDocument/2006/relationships/font" Target="fonts/font2.fntdata"/><Relationship Id="rId18" Type="http://schemas.openxmlformats.org/officeDocument/2006/relationships/font" Target="fonts/font1.fntdata"/><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1.GIF"/></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GIF"/></Relationships>
</file>

<file path=ppt/slides/_rels/slide3.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13.png"/><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GIF"/><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image" Target="../media/image7.GIF"/></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5.svg"/><Relationship Id="rId1" Type="http://schemas.openxmlformats.org/officeDocument/2006/relationships/image" Target="../media/image14.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7.png"/><Relationship Id="rId1" Type="http://schemas.openxmlformats.org/officeDocument/2006/relationships/image" Target="../media/image10.GIF"/></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8.png"/><Relationship Id="rId1" Type="http://schemas.openxmlformats.org/officeDocument/2006/relationships/image" Target="../media/image10.GIF"/></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9.png"/><Relationship Id="rId1" Type="http://schemas.openxmlformats.org/officeDocument/2006/relationships/image" Target="../media/image10.GIF"/></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0.png"/><Relationship Id="rId1" Type="http://schemas.openxmlformats.org/officeDocument/2006/relationships/image" Target="../media/image10.GIF"/></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1.png"/><Relationship Id="rId1" Type="http://schemas.openxmlformats.org/officeDocument/2006/relationships/image" Target="../media/image10.GIF"/></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2.GIF"/><Relationship Id="rId2" Type="http://schemas.openxmlformats.org/officeDocument/2006/relationships/image" Target="../media/image7.GIF"/><Relationship Id="rId1" Type="http://schemas.openxmlformats.org/officeDocument/2006/relationships/image" Target="../media/image6.GIF"/></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7D8AAB"/>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rot="-7094160">
            <a:off x="14288519" y="-2590076"/>
            <a:ext cx="7036832" cy="7237543"/>
          </a:xfrm>
          <a:prstGeom prst="rect">
            <a:avLst/>
          </a:prstGeom>
        </p:spPr>
      </p:pic>
      <p:sp>
        <p:nvSpPr>
          <p:cNvPr id="3" name="TextBox 3"/>
          <p:cNvSpPr txBox="1"/>
          <p:nvPr/>
        </p:nvSpPr>
        <p:spPr>
          <a:xfrm>
            <a:off x="2447334" y="914248"/>
            <a:ext cx="13908767" cy="5425440"/>
          </a:xfrm>
          <a:prstGeom prst="rect">
            <a:avLst/>
          </a:prstGeom>
        </p:spPr>
        <p:txBody>
          <a:bodyPr lIns="0" tIns="0" rIns="0" bIns="0" rtlCol="0" anchor="t">
            <a:spAutoFit/>
          </a:bodyPr>
          <a:lstStyle/>
          <a:p>
            <a:pPr algn="ctr">
              <a:lnSpc>
                <a:spcPts val="13410"/>
              </a:lnSpc>
            </a:pPr>
            <a:r>
              <a:rPr lang="en-US" sz="8800">
                <a:solidFill>
                  <a:srgbClr val="FFFAEF"/>
                </a:solidFill>
                <a:latin typeface="Baloo" panose="03080902040302020200"/>
                <a:ea typeface="Baloo" panose="03080902040302020200"/>
                <a:cs typeface="Baloo" panose="03080902040302020200"/>
                <a:sym typeface="Baloo" panose="03080902040302020200"/>
              </a:rPr>
              <a:t>Xếp lịch thi cho sinh viên bằng thuật toán tô màu đồ thị </a:t>
            </a:r>
            <a:r>
              <a:rPr lang="en-US" sz="8800">
                <a:solidFill>
                  <a:srgbClr val="FF3131"/>
                </a:solidFill>
                <a:latin typeface="Baloo" panose="03080902040302020200"/>
                <a:ea typeface="Baloo" panose="03080902040302020200"/>
                <a:cs typeface="Baloo" panose="03080902040302020200"/>
                <a:sym typeface="Baloo" panose="03080902040302020200"/>
              </a:rPr>
              <a:t>Welsh-Powell</a:t>
            </a:r>
            <a:endParaRPr lang="en-US" sz="8800">
              <a:solidFill>
                <a:srgbClr val="FF3131"/>
              </a:solidFill>
              <a:latin typeface="Baloo" panose="03080902040302020200"/>
              <a:ea typeface="Baloo" panose="03080902040302020200"/>
              <a:cs typeface="Baloo" panose="03080902040302020200"/>
              <a:sym typeface="Baloo" panose="03080902040302020200"/>
            </a:endParaRPr>
          </a:p>
        </p:txBody>
      </p:sp>
      <p:sp>
        <p:nvSpPr>
          <p:cNvPr id="4" name="Freeform 4"/>
          <p:cNvSpPr/>
          <p:nvPr/>
        </p:nvSpPr>
        <p:spPr>
          <a:xfrm>
            <a:off x="1009650" y="1009650"/>
            <a:ext cx="405502" cy="346298"/>
          </a:xfrm>
          <a:custGeom>
            <a:avLst/>
            <a:gdLst/>
            <a:ahLst/>
            <a:cxnLst/>
            <a:rect l="l" t="t" r="r" b="b"/>
            <a:pathLst>
              <a:path w="405502" h="346298">
                <a:moveTo>
                  <a:pt x="0" y="0"/>
                </a:moveTo>
                <a:lnTo>
                  <a:pt x="405502" y="0"/>
                </a:lnTo>
                <a:lnTo>
                  <a:pt x="405502" y="346298"/>
                </a:lnTo>
                <a:lnTo>
                  <a:pt x="0" y="34629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5" name="Group 5"/>
          <p:cNvGrpSpPr/>
          <p:nvPr/>
        </p:nvGrpSpPr>
        <p:grpSpPr>
          <a:xfrm rot="0">
            <a:off x="16356597" y="9076163"/>
            <a:ext cx="902703" cy="182137"/>
            <a:chOff x="0" y="0"/>
            <a:chExt cx="1203604" cy="242849"/>
          </a:xfrm>
        </p:grpSpPr>
        <p:sp>
          <p:nvSpPr>
            <p:cNvPr id="6" name="Freeform 6"/>
            <p:cNvSpPr/>
            <p:nvPr/>
          </p:nvSpPr>
          <p:spPr>
            <a:xfrm>
              <a:off x="0" y="-2"/>
              <a:ext cx="1203706" cy="242953"/>
            </a:xfrm>
            <a:custGeom>
              <a:avLst/>
              <a:gdLst/>
              <a:ahLst/>
              <a:cxnLst/>
              <a:rect l="l" t="t" r="r" b="b"/>
              <a:pathLst>
                <a:path w="1203706" h="242953">
                  <a:moveTo>
                    <a:pt x="1193546" y="103507"/>
                  </a:moveTo>
                  <a:lnTo>
                    <a:pt x="1045591" y="3685"/>
                  </a:lnTo>
                  <a:cubicBezTo>
                    <a:pt x="1035558" y="-2792"/>
                    <a:pt x="1022604" y="-633"/>
                    <a:pt x="1015365" y="9400"/>
                  </a:cubicBezTo>
                  <a:cubicBezTo>
                    <a:pt x="1008888" y="19433"/>
                    <a:pt x="1011047" y="32387"/>
                    <a:pt x="1021080" y="39626"/>
                  </a:cubicBezTo>
                  <a:lnTo>
                    <a:pt x="1110869" y="99951"/>
                  </a:lnTo>
                  <a:lnTo>
                    <a:pt x="0" y="99951"/>
                  </a:lnTo>
                  <a:lnTo>
                    <a:pt x="0" y="143004"/>
                  </a:lnTo>
                  <a:lnTo>
                    <a:pt x="1110996" y="143004"/>
                  </a:lnTo>
                  <a:lnTo>
                    <a:pt x="1021207" y="203329"/>
                  </a:lnTo>
                  <a:cubicBezTo>
                    <a:pt x="1011174" y="209806"/>
                    <a:pt x="1009015" y="223395"/>
                    <a:pt x="1015492" y="233555"/>
                  </a:cubicBezTo>
                  <a:cubicBezTo>
                    <a:pt x="1019810" y="240032"/>
                    <a:pt x="1026287" y="242953"/>
                    <a:pt x="1033399" y="242953"/>
                  </a:cubicBezTo>
                  <a:cubicBezTo>
                    <a:pt x="1037717" y="242953"/>
                    <a:pt x="1042035" y="241556"/>
                    <a:pt x="1045591" y="239397"/>
                  </a:cubicBezTo>
                  <a:lnTo>
                    <a:pt x="1194308" y="139575"/>
                  </a:lnTo>
                  <a:cubicBezTo>
                    <a:pt x="1200023" y="135257"/>
                    <a:pt x="1203706" y="128780"/>
                    <a:pt x="1203706" y="121668"/>
                  </a:cubicBezTo>
                  <a:cubicBezTo>
                    <a:pt x="1203706" y="114556"/>
                    <a:pt x="1200150" y="108079"/>
                    <a:pt x="1193673" y="103761"/>
                  </a:cubicBezTo>
                  <a:close/>
                </a:path>
              </a:pathLst>
            </a:custGeom>
            <a:solidFill>
              <a:srgbClr val="FFFAEF"/>
            </a:solidFill>
            <a:ln w="12700">
              <a:solidFill>
                <a:srgbClr val="000000"/>
              </a:solidFill>
            </a:ln>
          </p:spPr>
        </p:sp>
      </p:grpSp>
      <p:sp>
        <p:nvSpPr>
          <p:cNvPr id="7" name="Freeform 7"/>
          <p:cNvSpPr/>
          <p:nvPr/>
        </p:nvSpPr>
        <p:spPr>
          <a:xfrm rot="-2343780">
            <a:off x="-4257904" y="8522141"/>
            <a:ext cx="7339365" cy="2934148"/>
          </a:xfrm>
          <a:custGeom>
            <a:avLst/>
            <a:gdLst/>
            <a:ahLst/>
            <a:cxnLst/>
            <a:rect l="l" t="t" r="r" b="b"/>
            <a:pathLst>
              <a:path w="7339365" h="2934148">
                <a:moveTo>
                  <a:pt x="0" y="0"/>
                </a:moveTo>
                <a:lnTo>
                  <a:pt x="7339365" y="0"/>
                </a:lnTo>
                <a:lnTo>
                  <a:pt x="7339365" y="2934148"/>
                </a:lnTo>
                <a:lnTo>
                  <a:pt x="0" y="2934148"/>
                </a:lnTo>
                <a:lnTo>
                  <a:pt x="0" y="0"/>
                </a:lnTo>
                <a:close/>
              </a:path>
            </a:pathLst>
          </a:custGeom>
          <a:blipFill>
            <a:blip r:embed="rId4">
              <a:extLst>
                <a:ext uri="{96DAC541-7B7A-43D3-8B79-37D633B846F1}">
                  <asvg:svgBlip xmlns:asvg="http://schemas.microsoft.com/office/drawing/2016/SVG/main" r:embed="rId5"/>
                </a:ext>
              </a:extLst>
            </a:blip>
            <a:stretch>
              <a:fillRect t="-124" b="-124"/>
            </a:stretch>
          </a:blipFill>
        </p:spPr>
      </p:sp>
      <p:sp>
        <p:nvSpPr>
          <p:cNvPr id="8" name="TextBox 8"/>
          <p:cNvSpPr txBox="1"/>
          <p:nvPr/>
        </p:nvSpPr>
        <p:spPr>
          <a:xfrm>
            <a:off x="1583103" y="7614895"/>
            <a:ext cx="6720764" cy="700402"/>
          </a:xfrm>
          <a:prstGeom prst="rect">
            <a:avLst/>
          </a:prstGeom>
        </p:spPr>
        <p:txBody>
          <a:bodyPr lIns="0" tIns="0" rIns="0" bIns="0" rtlCol="0" anchor="t">
            <a:spAutoFit/>
          </a:bodyPr>
          <a:lstStyle/>
          <a:p>
            <a:pPr algn="ctr">
              <a:lnSpc>
                <a:spcPts val="5330"/>
              </a:lnSpc>
            </a:pPr>
            <a:r>
              <a:rPr lang="en-US" sz="4100">
                <a:solidFill>
                  <a:srgbClr val="FFFAEF"/>
                </a:solidFill>
                <a:latin typeface="Baloo" panose="03080902040302020200"/>
                <a:ea typeface="Baloo" panose="03080902040302020200"/>
                <a:cs typeface="Baloo" panose="03080902040302020200"/>
                <a:sym typeface="Baloo" panose="03080902040302020200"/>
              </a:rPr>
              <a:t>Thực hiện : Nhóm LTĐT</a:t>
            </a:r>
            <a:endParaRPr lang="en-US" sz="4100">
              <a:solidFill>
                <a:srgbClr val="FFFAEF"/>
              </a:solidFill>
              <a:latin typeface="Baloo" panose="03080902040302020200"/>
              <a:ea typeface="Baloo" panose="03080902040302020200"/>
              <a:cs typeface="Baloo" panose="03080902040302020200"/>
              <a:sym typeface="Baloo" panose="0308090204030202020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AEF"/>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rot="2927160">
            <a:off x="15798155" y="-34404"/>
            <a:ext cx="12725590" cy="14205833"/>
          </a:xfrm>
          <a:prstGeom prst="rect">
            <a:avLst/>
          </a:prstGeom>
        </p:spPr>
      </p:pic>
      <p:sp>
        <p:nvSpPr>
          <p:cNvPr id="3" name="TextBox 3"/>
          <p:cNvSpPr txBox="1"/>
          <p:nvPr/>
        </p:nvSpPr>
        <p:spPr>
          <a:xfrm>
            <a:off x="2895600" y="952500"/>
            <a:ext cx="12404722" cy="1384935"/>
          </a:xfrm>
          <a:prstGeom prst="rect">
            <a:avLst/>
          </a:prstGeom>
        </p:spPr>
        <p:txBody>
          <a:bodyPr lIns="0" tIns="0" rIns="0" bIns="0" rtlCol="0" anchor="t">
            <a:spAutoFit/>
          </a:bodyPr>
          <a:lstStyle/>
          <a:p>
            <a:pPr algn="ctr">
              <a:lnSpc>
                <a:spcPts val="10800"/>
              </a:lnSpc>
            </a:pPr>
            <a:r>
              <a:rPr lang="en-US" sz="9000">
                <a:solidFill>
                  <a:srgbClr val="000000"/>
                </a:solidFill>
                <a:latin typeface="Baloo" panose="03080902040302020200"/>
                <a:ea typeface="Baloo" panose="03080902040302020200"/>
                <a:cs typeface="Baloo" panose="03080902040302020200"/>
                <a:sym typeface="Baloo" panose="03080902040302020200"/>
              </a:rPr>
              <a:t>Giới thiệu thành viên</a:t>
            </a:r>
            <a:endParaRPr lang="en-US" sz="9000">
              <a:solidFill>
                <a:srgbClr val="000000"/>
              </a:solidFill>
              <a:latin typeface="Baloo" panose="03080902040302020200"/>
              <a:ea typeface="Baloo" panose="03080902040302020200"/>
              <a:cs typeface="Baloo" panose="03080902040302020200"/>
              <a:sym typeface="Baloo" panose="03080902040302020200"/>
            </a:endParaRPr>
          </a:p>
        </p:txBody>
      </p:sp>
      <p:sp>
        <p:nvSpPr>
          <p:cNvPr id="4" name="TextBox 4"/>
          <p:cNvSpPr txBox="1"/>
          <p:nvPr/>
        </p:nvSpPr>
        <p:spPr>
          <a:xfrm>
            <a:off x="1524248" y="3095482"/>
            <a:ext cx="16145389" cy="3980183"/>
          </a:xfrm>
          <a:prstGeom prst="rect">
            <a:avLst/>
          </a:prstGeom>
        </p:spPr>
        <p:txBody>
          <a:bodyPr lIns="0" tIns="0" rIns="0" bIns="0" rtlCol="0" anchor="t">
            <a:spAutoFit/>
          </a:bodyPr>
          <a:lstStyle/>
          <a:p>
            <a:pPr marL="850265" lvl="2" indent="-283210" algn="l">
              <a:lnSpc>
                <a:spcPts val="5985"/>
              </a:lnSpc>
              <a:buFont typeface="Arial" panose="020B0604020202020204"/>
              <a:buChar char="⚬"/>
            </a:pPr>
            <a:r>
              <a:rPr lang="en-US" sz="3700">
                <a:solidFill>
                  <a:srgbClr val="000000"/>
                </a:solidFill>
                <a:latin typeface="Baloo" panose="03080902040302020200"/>
                <a:ea typeface="Baloo" panose="03080902040302020200"/>
                <a:cs typeface="Baloo" panose="03080902040302020200"/>
                <a:sym typeface="Baloo" panose="03080902040302020200"/>
              </a:rPr>
              <a:t>Phạm Duy Kha (nhóm trưởng) - 50.01.104.068</a:t>
            </a:r>
            <a:endParaRPr lang="en-US" sz="3700">
              <a:solidFill>
                <a:srgbClr val="000000"/>
              </a:solidFill>
              <a:latin typeface="Baloo" panose="03080902040302020200"/>
              <a:ea typeface="Baloo" panose="03080902040302020200"/>
              <a:cs typeface="Baloo" panose="03080902040302020200"/>
              <a:sym typeface="Baloo" panose="03080902040302020200"/>
            </a:endParaRPr>
          </a:p>
          <a:p>
            <a:pPr marL="850265" lvl="2" indent="-283210" algn="l">
              <a:lnSpc>
                <a:spcPts val="5985"/>
              </a:lnSpc>
              <a:buFont typeface="Arial" panose="020B0604020202020204"/>
              <a:buChar char="⚬"/>
            </a:pPr>
            <a:r>
              <a:rPr lang="en-US" sz="3700">
                <a:solidFill>
                  <a:srgbClr val="000000"/>
                </a:solidFill>
                <a:latin typeface="Baloo" panose="03080902040302020200"/>
                <a:ea typeface="Baloo" panose="03080902040302020200"/>
                <a:cs typeface="Baloo" panose="03080902040302020200"/>
                <a:sym typeface="Baloo" panose="03080902040302020200"/>
              </a:rPr>
              <a:t>Nguyễn Chu Thành Nhân - 50.01.104.105</a:t>
            </a:r>
            <a:endParaRPr lang="en-US" sz="3700">
              <a:solidFill>
                <a:srgbClr val="000000"/>
              </a:solidFill>
              <a:latin typeface="Baloo" panose="03080902040302020200"/>
              <a:ea typeface="Baloo" panose="03080902040302020200"/>
              <a:cs typeface="Baloo" panose="03080902040302020200"/>
              <a:sym typeface="Baloo" panose="03080902040302020200"/>
            </a:endParaRPr>
          </a:p>
          <a:p>
            <a:pPr marL="850265" lvl="2" indent="-283210" algn="l">
              <a:lnSpc>
                <a:spcPts val="5985"/>
              </a:lnSpc>
              <a:buFont typeface="Arial" panose="020B0604020202020204"/>
              <a:buChar char="⚬"/>
            </a:pPr>
            <a:r>
              <a:rPr lang="en-US" sz="3700">
                <a:solidFill>
                  <a:srgbClr val="000000"/>
                </a:solidFill>
                <a:latin typeface="Baloo" panose="03080902040302020200"/>
                <a:ea typeface="Baloo" panose="03080902040302020200"/>
                <a:cs typeface="Baloo" panose="03080902040302020200"/>
                <a:sym typeface="Baloo" panose="03080902040302020200"/>
              </a:rPr>
              <a:t>Nguyễn Chánh Hưng - 50.01.104.054</a:t>
            </a:r>
            <a:endParaRPr lang="en-US" sz="3700">
              <a:solidFill>
                <a:srgbClr val="000000"/>
              </a:solidFill>
              <a:latin typeface="Baloo" panose="03080902040302020200"/>
              <a:ea typeface="Baloo" panose="03080902040302020200"/>
              <a:cs typeface="Baloo" panose="03080902040302020200"/>
              <a:sym typeface="Baloo" panose="03080902040302020200"/>
            </a:endParaRPr>
          </a:p>
          <a:p>
            <a:pPr marL="850265" lvl="2" indent="-283210" algn="l">
              <a:lnSpc>
                <a:spcPts val="5985"/>
              </a:lnSpc>
              <a:buFont typeface="Arial" panose="020B0604020202020204"/>
              <a:buChar char="⚬"/>
            </a:pPr>
            <a:r>
              <a:rPr lang="en-US" sz="3700">
                <a:solidFill>
                  <a:srgbClr val="000000"/>
                </a:solidFill>
                <a:latin typeface="Baloo" panose="03080902040302020200"/>
                <a:ea typeface="Baloo" panose="03080902040302020200"/>
                <a:cs typeface="Baloo" panose="03080902040302020200"/>
                <a:sym typeface="Baloo" panose="03080902040302020200"/>
              </a:rPr>
              <a:t>Phạm Thành Thuật - 50.01.104.159</a:t>
            </a:r>
            <a:endParaRPr lang="en-US" sz="3700">
              <a:solidFill>
                <a:srgbClr val="000000"/>
              </a:solidFill>
              <a:latin typeface="Baloo" panose="03080902040302020200"/>
              <a:ea typeface="Baloo" panose="03080902040302020200"/>
              <a:cs typeface="Baloo" panose="03080902040302020200"/>
              <a:sym typeface="Baloo" panose="03080902040302020200"/>
            </a:endParaRPr>
          </a:p>
          <a:p>
            <a:pPr marL="850265" lvl="2" indent="-283210" algn="l">
              <a:lnSpc>
                <a:spcPts val="5985"/>
              </a:lnSpc>
              <a:buFont typeface="Arial" panose="020B0604020202020204"/>
              <a:buChar char="⚬"/>
            </a:pPr>
            <a:r>
              <a:rPr lang="en-US" sz="3700">
                <a:solidFill>
                  <a:srgbClr val="000000"/>
                </a:solidFill>
                <a:latin typeface="Baloo" panose="03080902040302020200"/>
                <a:ea typeface="Baloo" panose="03080902040302020200"/>
                <a:cs typeface="Baloo" panose="03080902040302020200"/>
                <a:sym typeface="Baloo" panose="03080902040302020200"/>
              </a:rPr>
              <a:t>Lê Anh Tuấn - 50.01.104.174</a:t>
            </a:r>
            <a:endParaRPr lang="en-US" sz="3700">
              <a:solidFill>
                <a:srgbClr val="000000"/>
              </a:solidFill>
              <a:latin typeface="Baloo" panose="03080902040302020200"/>
              <a:ea typeface="Baloo" panose="03080902040302020200"/>
              <a:cs typeface="Baloo" panose="03080902040302020200"/>
              <a:sym typeface="Baloo" panose="0308090204030202020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AEF"/>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l="62988" t="67035"/>
          <a:stretch>
            <a:fillRect/>
          </a:stretch>
        </p:blipFill>
        <p:spPr>
          <a:xfrm rot="-10800000">
            <a:off x="0" y="-32499"/>
            <a:ext cx="3468262" cy="3089053"/>
          </a:xfrm>
          <a:prstGeom prst="rect">
            <a:avLst/>
          </a:prstGeom>
        </p:spPr>
      </p:pic>
      <p:sp>
        <p:nvSpPr>
          <p:cNvPr id="3" name="Freeform 3"/>
          <p:cNvSpPr/>
          <p:nvPr/>
        </p:nvSpPr>
        <p:spPr>
          <a:xfrm>
            <a:off x="1009623" y="1009623"/>
            <a:ext cx="405556" cy="346352"/>
          </a:xfrm>
          <a:custGeom>
            <a:avLst/>
            <a:gdLst/>
            <a:ahLst/>
            <a:cxnLst/>
            <a:rect l="l" t="t" r="r" b="b"/>
            <a:pathLst>
              <a:path w="405556" h="346352">
                <a:moveTo>
                  <a:pt x="0" y="0"/>
                </a:moveTo>
                <a:lnTo>
                  <a:pt x="405556" y="0"/>
                </a:lnTo>
                <a:lnTo>
                  <a:pt x="405556" y="346352"/>
                </a:lnTo>
                <a:lnTo>
                  <a:pt x="0" y="3463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pic>
        <p:nvPicPr>
          <p:cNvPr id="4" name="Picture 4"/>
          <p:cNvPicPr>
            <a:picLocks noChangeAspect="1"/>
          </p:cNvPicPr>
          <p:nvPr/>
        </p:nvPicPr>
        <p:blipFill>
          <a:blip r:embed="rId4"/>
          <a:srcRect l="70477" t="23497"/>
          <a:stretch>
            <a:fillRect/>
          </a:stretch>
        </p:blipFill>
        <p:spPr>
          <a:xfrm rot="-5400000" flipH="1">
            <a:off x="12514021" y="4513021"/>
            <a:ext cx="3215478" cy="8332470"/>
          </a:xfrm>
          <a:prstGeom prst="rect">
            <a:avLst/>
          </a:prstGeom>
        </p:spPr>
      </p:pic>
      <p:grpSp>
        <p:nvGrpSpPr>
          <p:cNvPr id="5" name="Group 5"/>
          <p:cNvGrpSpPr/>
          <p:nvPr/>
        </p:nvGrpSpPr>
        <p:grpSpPr>
          <a:xfrm rot="0">
            <a:off x="2114007" y="3825726"/>
            <a:ext cx="2098872" cy="2089547"/>
            <a:chOff x="0" y="0"/>
            <a:chExt cx="2798496" cy="2786062"/>
          </a:xfrm>
        </p:grpSpPr>
        <p:sp>
          <p:nvSpPr>
            <p:cNvPr id="6" name="Freeform 6"/>
            <p:cNvSpPr/>
            <p:nvPr/>
          </p:nvSpPr>
          <p:spPr>
            <a:xfrm>
              <a:off x="0" y="0"/>
              <a:ext cx="2798445" cy="2786126"/>
            </a:xfrm>
            <a:custGeom>
              <a:avLst/>
              <a:gdLst/>
              <a:ahLst/>
              <a:cxnLst/>
              <a:rect l="l" t="t" r="r" b="b"/>
              <a:pathLst>
                <a:path w="2798445" h="2786126">
                  <a:moveTo>
                    <a:pt x="0" y="0"/>
                  </a:moveTo>
                  <a:lnTo>
                    <a:pt x="2798445" y="0"/>
                  </a:lnTo>
                  <a:lnTo>
                    <a:pt x="2798445" y="2786126"/>
                  </a:lnTo>
                  <a:lnTo>
                    <a:pt x="0" y="2786126"/>
                  </a:lnTo>
                  <a:lnTo>
                    <a:pt x="0" y="0"/>
                  </a:lnTo>
                  <a:close/>
                </a:path>
              </a:pathLst>
            </a:custGeom>
            <a:blipFill>
              <a:blip r:embed="rId5"/>
              <a:stretch>
                <a:fillRect r="-1" b="2"/>
              </a:stretch>
            </a:blipFill>
          </p:spPr>
        </p:sp>
      </p:grpSp>
      <p:grpSp>
        <p:nvGrpSpPr>
          <p:cNvPr id="7" name="Group 7"/>
          <p:cNvGrpSpPr/>
          <p:nvPr/>
        </p:nvGrpSpPr>
        <p:grpSpPr>
          <a:xfrm rot="0">
            <a:off x="7836570" y="3825726"/>
            <a:ext cx="2419302" cy="2066658"/>
            <a:chOff x="0" y="0"/>
            <a:chExt cx="3225736" cy="2755544"/>
          </a:xfrm>
        </p:grpSpPr>
        <p:sp>
          <p:nvSpPr>
            <p:cNvPr id="8" name="Freeform 8"/>
            <p:cNvSpPr/>
            <p:nvPr/>
          </p:nvSpPr>
          <p:spPr>
            <a:xfrm>
              <a:off x="0" y="0"/>
              <a:ext cx="3225800" cy="2755519"/>
            </a:xfrm>
            <a:custGeom>
              <a:avLst/>
              <a:gdLst/>
              <a:ahLst/>
              <a:cxnLst/>
              <a:rect l="l" t="t" r="r" b="b"/>
              <a:pathLst>
                <a:path w="3225800" h="2755519">
                  <a:moveTo>
                    <a:pt x="0" y="0"/>
                  </a:moveTo>
                  <a:lnTo>
                    <a:pt x="3225800" y="0"/>
                  </a:lnTo>
                  <a:lnTo>
                    <a:pt x="3225800" y="2755519"/>
                  </a:lnTo>
                  <a:lnTo>
                    <a:pt x="0" y="2755519"/>
                  </a:lnTo>
                  <a:lnTo>
                    <a:pt x="0" y="0"/>
                  </a:lnTo>
                  <a:close/>
                </a:path>
              </a:pathLst>
            </a:custGeom>
            <a:blipFill>
              <a:blip r:embed="rId6"/>
              <a:stretch>
                <a:fillRect t="-8532" r="1" b="-8532"/>
              </a:stretch>
            </a:blipFill>
          </p:spPr>
        </p:sp>
      </p:grpSp>
      <p:grpSp>
        <p:nvGrpSpPr>
          <p:cNvPr id="9" name="Group 9"/>
          <p:cNvGrpSpPr/>
          <p:nvPr/>
        </p:nvGrpSpPr>
        <p:grpSpPr>
          <a:xfrm rot="0">
            <a:off x="12834337" y="3826231"/>
            <a:ext cx="3433362" cy="2089052"/>
            <a:chOff x="0" y="0"/>
            <a:chExt cx="4577817" cy="2785402"/>
          </a:xfrm>
        </p:grpSpPr>
        <p:sp>
          <p:nvSpPr>
            <p:cNvPr id="10" name="Freeform 10"/>
            <p:cNvSpPr/>
            <p:nvPr/>
          </p:nvSpPr>
          <p:spPr>
            <a:xfrm>
              <a:off x="0" y="0"/>
              <a:ext cx="4577842" cy="2785364"/>
            </a:xfrm>
            <a:custGeom>
              <a:avLst/>
              <a:gdLst/>
              <a:ahLst/>
              <a:cxnLst/>
              <a:rect l="l" t="t" r="r" b="b"/>
              <a:pathLst>
                <a:path w="4577842" h="2785364">
                  <a:moveTo>
                    <a:pt x="0" y="0"/>
                  </a:moveTo>
                  <a:lnTo>
                    <a:pt x="4577842" y="0"/>
                  </a:lnTo>
                  <a:lnTo>
                    <a:pt x="4577842" y="2785364"/>
                  </a:lnTo>
                  <a:lnTo>
                    <a:pt x="0" y="2785364"/>
                  </a:lnTo>
                  <a:lnTo>
                    <a:pt x="0" y="0"/>
                  </a:lnTo>
                  <a:close/>
                </a:path>
              </a:pathLst>
            </a:custGeom>
            <a:blipFill>
              <a:blip r:embed="rId7"/>
              <a:stretch>
                <a:fillRect t="-4486" b="-4487"/>
              </a:stretch>
            </a:blipFill>
          </p:spPr>
        </p:sp>
      </p:grpSp>
      <p:sp>
        <p:nvSpPr>
          <p:cNvPr id="11" name="TextBox 11"/>
          <p:cNvSpPr txBox="1"/>
          <p:nvPr/>
        </p:nvSpPr>
        <p:spPr>
          <a:xfrm>
            <a:off x="1676400" y="647700"/>
            <a:ext cx="14718030" cy="1384935"/>
          </a:xfrm>
          <a:prstGeom prst="rect">
            <a:avLst/>
          </a:prstGeom>
        </p:spPr>
        <p:txBody>
          <a:bodyPr lIns="0" tIns="0" rIns="0" bIns="0" rtlCol="0" anchor="t">
            <a:spAutoFit/>
          </a:bodyPr>
          <a:lstStyle/>
          <a:p>
            <a:pPr algn="ctr">
              <a:lnSpc>
                <a:spcPts val="10800"/>
              </a:lnSpc>
            </a:pPr>
            <a:r>
              <a:rPr lang="en-US" sz="9000">
                <a:solidFill>
                  <a:srgbClr val="000000"/>
                </a:solidFill>
                <a:latin typeface="Baloo" panose="03080902040302020200"/>
                <a:ea typeface="Baloo" panose="03080902040302020200"/>
                <a:cs typeface="Baloo" panose="03080902040302020200"/>
                <a:sym typeface="Baloo" panose="03080902040302020200"/>
              </a:rPr>
              <a:t>Phân tích và chuẩn bị đề tài</a:t>
            </a:r>
            <a:endParaRPr lang="en-US" sz="9000">
              <a:solidFill>
                <a:srgbClr val="000000"/>
              </a:solidFill>
              <a:latin typeface="Baloo" panose="03080902040302020200"/>
              <a:ea typeface="Baloo" panose="03080902040302020200"/>
              <a:cs typeface="Baloo" panose="03080902040302020200"/>
              <a:sym typeface="Baloo" panose="03080902040302020200"/>
            </a:endParaRPr>
          </a:p>
        </p:txBody>
      </p:sp>
      <p:sp>
        <p:nvSpPr>
          <p:cNvPr id="12" name="TextBox 12"/>
          <p:cNvSpPr txBox="1"/>
          <p:nvPr/>
        </p:nvSpPr>
        <p:spPr>
          <a:xfrm>
            <a:off x="1028700" y="7474953"/>
            <a:ext cx="4629626" cy="611505"/>
          </a:xfrm>
          <a:prstGeom prst="rect">
            <a:avLst/>
          </a:prstGeom>
        </p:spPr>
        <p:txBody>
          <a:bodyPr lIns="0" tIns="0" rIns="0" bIns="0" rtlCol="0" anchor="t">
            <a:spAutoFit/>
          </a:bodyPr>
          <a:lstStyle/>
          <a:p>
            <a:pPr algn="ctr">
              <a:lnSpc>
                <a:spcPts val="4680"/>
              </a:lnSpc>
            </a:pPr>
            <a:r>
              <a:rPr lang="en-US" sz="3600" b="1">
                <a:solidFill>
                  <a:srgbClr val="FF3131"/>
                </a:solidFill>
                <a:latin typeface="Clear Sans Bold" panose="020B0803030202020304"/>
                <a:ea typeface="Clear Sans Bold" panose="020B0803030202020304"/>
                <a:cs typeface="Clear Sans Bold" panose="020B0803030202020304"/>
                <a:sym typeface="Clear Sans Bold" panose="020B0803030202020304"/>
              </a:rPr>
              <a:t>VISUAL STUDIO</a:t>
            </a:r>
            <a:endParaRPr lang="en-US" sz="3600" b="1">
              <a:solidFill>
                <a:srgbClr val="FF3131"/>
              </a:solidFill>
              <a:latin typeface="Clear Sans Bold" panose="020B0803030202020304"/>
              <a:ea typeface="Clear Sans Bold" panose="020B0803030202020304"/>
              <a:cs typeface="Clear Sans Bold" panose="020B0803030202020304"/>
              <a:sym typeface="Clear Sans Bold" panose="020B0803030202020304"/>
            </a:endParaRPr>
          </a:p>
        </p:txBody>
      </p:sp>
      <p:sp>
        <p:nvSpPr>
          <p:cNvPr id="13" name="TextBox 13"/>
          <p:cNvSpPr txBox="1"/>
          <p:nvPr/>
        </p:nvSpPr>
        <p:spPr>
          <a:xfrm>
            <a:off x="1028700" y="6617770"/>
            <a:ext cx="4629626" cy="611505"/>
          </a:xfrm>
          <a:prstGeom prst="rect">
            <a:avLst/>
          </a:prstGeom>
        </p:spPr>
        <p:txBody>
          <a:bodyPr lIns="0" tIns="0" rIns="0" bIns="0" rtlCol="0" anchor="t">
            <a:spAutoFit/>
          </a:bodyPr>
          <a:lstStyle/>
          <a:p>
            <a:pPr algn="ctr">
              <a:lnSpc>
                <a:spcPts val="4680"/>
              </a:lnSpc>
            </a:pPr>
            <a:r>
              <a:rPr lang="en-US" sz="3600">
                <a:solidFill>
                  <a:srgbClr val="000000"/>
                </a:solidFill>
                <a:latin typeface="Baloo" panose="03080902040302020200"/>
                <a:ea typeface="Baloo" panose="03080902040302020200"/>
                <a:cs typeface="Baloo" panose="03080902040302020200"/>
                <a:sym typeface="Baloo" panose="03080902040302020200"/>
              </a:rPr>
              <a:t>Phần mềm viết</a:t>
            </a:r>
            <a:endParaRPr lang="en-US" sz="3600">
              <a:solidFill>
                <a:srgbClr val="000000"/>
              </a:solidFill>
              <a:latin typeface="Baloo" panose="03080902040302020200"/>
              <a:ea typeface="Baloo" panose="03080902040302020200"/>
              <a:cs typeface="Baloo" panose="03080902040302020200"/>
              <a:sym typeface="Baloo" panose="03080902040302020200"/>
            </a:endParaRPr>
          </a:p>
        </p:txBody>
      </p:sp>
      <p:sp>
        <p:nvSpPr>
          <p:cNvPr id="14" name="TextBox 14"/>
          <p:cNvSpPr txBox="1"/>
          <p:nvPr/>
        </p:nvSpPr>
        <p:spPr>
          <a:xfrm>
            <a:off x="12437364" y="7474953"/>
            <a:ext cx="4629626" cy="611505"/>
          </a:xfrm>
          <a:prstGeom prst="rect">
            <a:avLst/>
          </a:prstGeom>
        </p:spPr>
        <p:txBody>
          <a:bodyPr lIns="0" tIns="0" rIns="0" bIns="0" rtlCol="0" anchor="t">
            <a:spAutoFit/>
          </a:bodyPr>
          <a:lstStyle/>
          <a:p>
            <a:pPr algn="ctr">
              <a:lnSpc>
                <a:spcPts val="4680"/>
              </a:lnSpc>
            </a:pPr>
            <a:r>
              <a:rPr lang="en-US" sz="3600" b="1">
                <a:solidFill>
                  <a:srgbClr val="FF3131"/>
                </a:solidFill>
                <a:latin typeface="Clear Sans Bold" panose="020B0803030202020304"/>
                <a:ea typeface="Clear Sans Bold" panose="020B0803030202020304"/>
                <a:cs typeface="Clear Sans Bold" panose="020B0803030202020304"/>
                <a:sym typeface="Clear Sans Bold" panose="020B0803030202020304"/>
              </a:rPr>
              <a:t>Welsh-Powell </a:t>
            </a:r>
            <a:endParaRPr lang="en-US" sz="3600" b="1">
              <a:solidFill>
                <a:srgbClr val="FF3131"/>
              </a:solidFill>
              <a:latin typeface="Clear Sans Bold" panose="020B0803030202020304"/>
              <a:ea typeface="Clear Sans Bold" panose="020B0803030202020304"/>
              <a:cs typeface="Clear Sans Bold" panose="020B0803030202020304"/>
              <a:sym typeface="Clear Sans Bold" panose="020B0803030202020304"/>
            </a:endParaRPr>
          </a:p>
        </p:txBody>
      </p:sp>
      <p:sp>
        <p:nvSpPr>
          <p:cNvPr id="15" name="TextBox 15"/>
          <p:cNvSpPr txBox="1"/>
          <p:nvPr/>
        </p:nvSpPr>
        <p:spPr>
          <a:xfrm>
            <a:off x="12437364" y="6617770"/>
            <a:ext cx="4629626" cy="611505"/>
          </a:xfrm>
          <a:prstGeom prst="rect">
            <a:avLst/>
          </a:prstGeom>
        </p:spPr>
        <p:txBody>
          <a:bodyPr lIns="0" tIns="0" rIns="0" bIns="0" rtlCol="0" anchor="t">
            <a:spAutoFit/>
          </a:bodyPr>
          <a:lstStyle/>
          <a:p>
            <a:pPr algn="ctr">
              <a:lnSpc>
                <a:spcPts val="4680"/>
              </a:lnSpc>
            </a:pPr>
            <a:r>
              <a:rPr lang="en-US" sz="3600">
                <a:solidFill>
                  <a:srgbClr val="000000"/>
                </a:solidFill>
                <a:latin typeface="Baloo" panose="03080902040302020200"/>
                <a:ea typeface="Baloo" panose="03080902040302020200"/>
                <a:cs typeface="Baloo" panose="03080902040302020200"/>
                <a:sym typeface="Baloo" panose="03080902040302020200"/>
              </a:rPr>
              <a:t>Thuật toán</a:t>
            </a:r>
            <a:endParaRPr lang="en-US" sz="3600">
              <a:solidFill>
                <a:srgbClr val="000000"/>
              </a:solidFill>
              <a:latin typeface="Baloo" panose="03080902040302020200"/>
              <a:ea typeface="Baloo" panose="03080902040302020200"/>
              <a:cs typeface="Baloo" panose="03080902040302020200"/>
              <a:sym typeface="Baloo" panose="03080902040302020200"/>
            </a:endParaRPr>
          </a:p>
        </p:txBody>
      </p:sp>
      <p:sp>
        <p:nvSpPr>
          <p:cNvPr id="16" name="TextBox 16"/>
          <p:cNvSpPr txBox="1"/>
          <p:nvPr/>
        </p:nvSpPr>
        <p:spPr>
          <a:xfrm>
            <a:off x="6731413" y="7474953"/>
            <a:ext cx="4629626" cy="611505"/>
          </a:xfrm>
          <a:prstGeom prst="rect">
            <a:avLst/>
          </a:prstGeom>
        </p:spPr>
        <p:txBody>
          <a:bodyPr lIns="0" tIns="0" rIns="0" bIns="0" rtlCol="0" anchor="t">
            <a:spAutoFit/>
          </a:bodyPr>
          <a:lstStyle/>
          <a:p>
            <a:pPr algn="ctr">
              <a:lnSpc>
                <a:spcPts val="4680"/>
              </a:lnSpc>
            </a:pPr>
            <a:r>
              <a:rPr lang="en-US" sz="3600" b="1">
                <a:solidFill>
                  <a:srgbClr val="FF3131"/>
                </a:solidFill>
                <a:latin typeface="Clear Sans Bold" panose="020B0803030202020304"/>
                <a:ea typeface="Clear Sans Bold" panose="020B0803030202020304"/>
                <a:cs typeface="Clear Sans Bold" panose="020B0803030202020304"/>
                <a:sym typeface="Clear Sans Bold" panose="020B0803030202020304"/>
              </a:rPr>
              <a:t>C#</a:t>
            </a:r>
            <a:endParaRPr lang="en-US" sz="3600" b="1">
              <a:solidFill>
                <a:srgbClr val="FF3131"/>
              </a:solidFill>
              <a:latin typeface="Clear Sans Bold" panose="020B0803030202020304"/>
              <a:ea typeface="Clear Sans Bold" panose="020B0803030202020304"/>
              <a:cs typeface="Clear Sans Bold" panose="020B0803030202020304"/>
              <a:sym typeface="Clear Sans Bold" panose="020B0803030202020304"/>
            </a:endParaRPr>
          </a:p>
        </p:txBody>
      </p:sp>
      <p:sp>
        <p:nvSpPr>
          <p:cNvPr id="17" name="TextBox 17"/>
          <p:cNvSpPr txBox="1"/>
          <p:nvPr/>
        </p:nvSpPr>
        <p:spPr>
          <a:xfrm>
            <a:off x="6731413" y="6617770"/>
            <a:ext cx="4629626" cy="611505"/>
          </a:xfrm>
          <a:prstGeom prst="rect">
            <a:avLst/>
          </a:prstGeom>
        </p:spPr>
        <p:txBody>
          <a:bodyPr lIns="0" tIns="0" rIns="0" bIns="0" rtlCol="0" anchor="t">
            <a:spAutoFit/>
          </a:bodyPr>
          <a:lstStyle/>
          <a:p>
            <a:pPr algn="ctr">
              <a:lnSpc>
                <a:spcPts val="4680"/>
              </a:lnSpc>
            </a:pPr>
            <a:r>
              <a:rPr lang="en-US" sz="3600">
                <a:solidFill>
                  <a:srgbClr val="000000"/>
                </a:solidFill>
                <a:latin typeface="Baloo" panose="03080902040302020200"/>
                <a:ea typeface="Baloo" panose="03080902040302020200"/>
                <a:cs typeface="Baloo" panose="03080902040302020200"/>
                <a:sym typeface="Baloo" panose="03080902040302020200"/>
              </a:rPr>
              <a:t>Ngôn ngữ lập trình</a:t>
            </a:r>
            <a:endParaRPr lang="en-US" sz="3600">
              <a:solidFill>
                <a:srgbClr val="000000"/>
              </a:solidFill>
              <a:latin typeface="Baloo" panose="03080902040302020200"/>
              <a:ea typeface="Baloo" panose="03080902040302020200"/>
              <a:cs typeface="Baloo" panose="03080902040302020200"/>
              <a:sym typeface="Baloo" panose="0308090204030202020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AEF"/>
        </a:solidFill>
        <a:effectLst/>
      </p:bgPr>
    </p:bg>
    <p:spTree>
      <p:nvGrpSpPr>
        <p:cNvPr id="1" name=""/>
        <p:cNvGrpSpPr/>
        <p:nvPr/>
      </p:nvGrpSpPr>
      <p:grpSpPr>
        <a:xfrm>
          <a:off x="0" y="0"/>
          <a:ext cx="0" cy="0"/>
          <a:chOff x="0" y="0"/>
          <a:chExt cx="0" cy="0"/>
        </a:xfrm>
      </p:grpSpPr>
      <p:sp>
        <p:nvSpPr>
          <p:cNvPr id="2" name="Freeform 2"/>
          <p:cNvSpPr/>
          <p:nvPr/>
        </p:nvSpPr>
        <p:spPr>
          <a:xfrm rot="-776040">
            <a:off x="12219518" y="-1981352"/>
            <a:ext cx="8338090" cy="7254135"/>
          </a:xfrm>
          <a:custGeom>
            <a:avLst/>
            <a:gdLst/>
            <a:ahLst/>
            <a:cxnLst/>
            <a:rect l="l" t="t" r="r" b="b"/>
            <a:pathLst>
              <a:path w="8338090" h="7254135">
                <a:moveTo>
                  <a:pt x="0" y="0"/>
                </a:moveTo>
                <a:lnTo>
                  <a:pt x="8338089" y="0"/>
                </a:lnTo>
                <a:lnTo>
                  <a:pt x="8338089" y="7254135"/>
                </a:lnTo>
                <a:lnTo>
                  <a:pt x="0" y="7254135"/>
                </a:lnTo>
                <a:lnTo>
                  <a:pt x="0" y="0"/>
                </a:lnTo>
                <a:close/>
              </a:path>
            </a:pathLst>
          </a:custGeom>
          <a:blipFill>
            <a:blip r:embed="rId1">
              <a:extLst>
                <a:ext uri="{96DAC541-7B7A-43D3-8B79-37D633B846F1}">
                  <asvg:svgBlip xmlns:asvg="http://schemas.microsoft.com/office/drawing/2016/SVG/main" r:embed="rId2"/>
                </a:ext>
              </a:extLst>
            </a:blip>
            <a:stretch>
              <a:fillRect t="-123" b="-123"/>
            </a:stretch>
          </a:blipFill>
        </p:spPr>
      </p:sp>
      <p:sp>
        <p:nvSpPr>
          <p:cNvPr id="3" name="TextBox 3"/>
          <p:cNvSpPr txBox="1"/>
          <p:nvPr/>
        </p:nvSpPr>
        <p:spPr>
          <a:xfrm>
            <a:off x="1028700" y="1028700"/>
            <a:ext cx="13000567" cy="1371600"/>
          </a:xfrm>
          <a:prstGeom prst="rect">
            <a:avLst/>
          </a:prstGeom>
        </p:spPr>
        <p:txBody>
          <a:bodyPr lIns="0" tIns="0" rIns="0" bIns="0" rtlCol="0" anchor="t">
            <a:spAutoFit/>
          </a:bodyPr>
          <a:lstStyle/>
          <a:p>
            <a:pPr algn="l">
              <a:lnSpc>
                <a:spcPts val="10800"/>
              </a:lnSpc>
            </a:pPr>
            <a:r>
              <a:rPr lang="en-US" sz="9000">
                <a:solidFill>
                  <a:srgbClr val="000000"/>
                </a:solidFill>
                <a:latin typeface="Baloo" panose="03080902040302020200"/>
                <a:ea typeface="Baloo" panose="03080902040302020200"/>
                <a:cs typeface="Baloo" panose="03080902040302020200"/>
                <a:sym typeface="Baloo" panose="03080902040302020200"/>
              </a:rPr>
              <a:t>Thuật toán Welsh-powell</a:t>
            </a:r>
            <a:endParaRPr lang="en-US" sz="9000">
              <a:solidFill>
                <a:srgbClr val="000000"/>
              </a:solidFill>
              <a:latin typeface="Baloo" panose="03080902040302020200"/>
              <a:ea typeface="Baloo" panose="03080902040302020200"/>
              <a:cs typeface="Baloo" panose="03080902040302020200"/>
              <a:sym typeface="Baloo" panose="03080902040302020200"/>
            </a:endParaRPr>
          </a:p>
        </p:txBody>
      </p:sp>
      <p:sp>
        <p:nvSpPr>
          <p:cNvPr id="4" name="TextBox 4"/>
          <p:cNvSpPr txBox="1"/>
          <p:nvPr/>
        </p:nvSpPr>
        <p:spPr>
          <a:xfrm>
            <a:off x="1028700" y="3010938"/>
            <a:ext cx="16230600" cy="4325239"/>
          </a:xfrm>
          <a:prstGeom prst="rect">
            <a:avLst/>
          </a:prstGeom>
        </p:spPr>
        <p:txBody>
          <a:bodyPr lIns="0" tIns="0" rIns="0" bIns="0" rtlCol="0" anchor="t">
            <a:spAutoFit/>
          </a:bodyPr>
          <a:lstStyle/>
          <a:p>
            <a:pPr algn="l">
              <a:lnSpc>
                <a:spcPts val="5765"/>
              </a:lnSpc>
            </a:pPr>
            <a:r>
              <a:rPr lang="en-US" sz="4435">
                <a:solidFill>
                  <a:srgbClr val="000000"/>
                </a:solidFill>
                <a:latin typeface="Clear Sans" panose="020B0503030202020304"/>
                <a:ea typeface="Clear Sans" panose="020B0503030202020304"/>
                <a:cs typeface="Clear Sans" panose="020B0503030202020304"/>
                <a:sym typeface="Clear Sans" panose="020B0503030202020304"/>
              </a:rPr>
              <a:t>Thuật toán tô màu đồ thị là một kỹ thuật phân loại các đỉnh của đồ thị thành các nhóm (màu) sao cho không có hai đỉnh kề nhau cùng màu. Thuật toán Welsh-Powell là một thuật toán tham lam (greedy), dựa trên việc sắp xếp các đỉnh theo thứ tự bậc giảm dần và gán màu thấp nhất có thể cho từng đỉnh</a:t>
            </a:r>
            <a:endParaRPr lang="en-US" sz="4435">
              <a:solidFill>
                <a:srgbClr val="000000"/>
              </a:solidFill>
              <a:latin typeface="Clear Sans" panose="020B0503030202020304"/>
              <a:ea typeface="Clear Sans" panose="020B0503030202020304"/>
              <a:cs typeface="Clear Sans" panose="020B0503030202020304"/>
              <a:sym typeface="Clear Sans" panose="020B0503030202020304"/>
            </a:endParaRPr>
          </a:p>
          <a:p>
            <a:pPr algn="l">
              <a:lnSpc>
                <a:spcPts val="5765"/>
              </a:lnSpc>
            </a:p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AEF"/>
        </a:solidFill>
        <a:effectLst/>
      </p:bgPr>
    </p:bg>
    <p:spTree>
      <p:nvGrpSpPr>
        <p:cNvPr id="1" name=""/>
        <p:cNvGrpSpPr/>
        <p:nvPr/>
      </p:nvGrpSpPr>
      <p:grpSpPr>
        <a:xfrm>
          <a:off x="0" y="0"/>
          <a:ext cx="0" cy="0"/>
          <a:chOff x="0" y="0"/>
          <a:chExt cx="0" cy="0"/>
        </a:xfrm>
      </p:grpSpPr>
      <p:sp>
        <p:nvSpPr>
          <p:cNvPr id="2" name="Freeform 2"/>
          <p:cNvSpPr/>
          <p:nvPr/>
        </p:nvSpPr>
        <p:spPr>
          <a:xfrm rot="-776040">
            <a:off x="12219518" y="-1981352"/>
            <a:ext cx="8338090" cy="7254135"/>
          </a:xfrm>
          <a:custGeom>
            <a:avLst/>
            <a:gdLst/>
            <a:ahLst/>
            <a:cxnLst/>
            <a:rect l="l" t="t" r="r" b="b"/>
            <a:pathLst>
              <a:path w="8338090" h="7254135">
                <a:moveTo>
                  <a:pt x="0" y="0"/>
                </a:moveTo>
                <a:lnTo>
                  <a:pt x="8338089" y="0"/>
                </a:lnTo>
                <a:lnTo>
                  <a:pt x="8338089" y="7254135"/>
                </a:lnTo>
                <a:lnTo>
                  <a:pt x="0" y="7254135"/>
                </a:lnTo>
                <a:lnTo>
                  <a:pt x="0" y="0"/>
                </a:lnTo>
                <a:close/>
              </a:path>
            </a:pathLst>
          </a:custGeom>
          <a:blipFill>
            <a:blip r:embed="rId1">
              <a:extLst>
                <a:ext uri="{96DAC541-7B7A-43D3-8B79-37D633B846F1}">
                  <asvg:svgBlip xmlns:asvg="http://schemas.microsoft.com/office/drawing/2016/SVG/main" r:embed="rId2"/>
                </a:ext>
              </a:extLst>
            </a:blip>
            <a:stretch>
              <a:fillRect t="-123" b="-123"/>
            </a:stretch>
          </a:blipFill>
        </p:spPr>
      </p:sp>
      <p:sp>
        <p:nvSpPr>
          <p:cNvPr id="3" name="TextBox 3"/>
          <p:cNvSpPr txBox="1"/>
          <p:nvPr/>
        </p:nvSpPr>
        <p:spPr>
          <a:xfrm>
            <a:off x="2895600" y="952500"/>
            <a:ext cx="12355195" cy="1384935"/>
          </a:xfrm>
          <a:prstGeom prst="rect">
            <a:avLst/>
          </a:prstGeom>
        </p:spPr>
        <p:txBody>
          <a:bodyPr wrap="square" lIns="0" tIns="0" rIns="0" bIns="0" rtlCol="0" anchor="t">
            <a:spAutoFit/>
          </a:bodyPr>
          <a:lstStyle/>
          <a:p>
            <a:pPr algn="r">
              <a:lnSpc>
                <a:spcPts val="10800"/>
              </a:lnSpc>
            </a:pPr>
            <a:r>
              <a:rPr lang="en-US" sz="9000">
                <a:solidFill>
                  <a:srgbClr val="000000"/>
                </a:solidFill>
                <a:latin typeface="Baloo" panose="03080902040302020200"/>
                <a:ea typeface="Baloo" panose="03080902040302020200"/>
                <a:cs typeface="Baloo" panose="03080902040302020200"/>
                <a:sym typeface="Baloo" panose="03080902040302020200"/>
              </a:rPr>
              <a:t>Minh họa Welsh-powell</a:t>
            </a:r>
            <a:endParaRPr lang="en-US" sz="9000">
              <a:solidFill>
                <a:srgbClr val="000000"/>
              </a:solidFill>
              <a:latin typeface="Baloo" panose="03080902040302020200"/>
              <a:ea typeface="Baloo" panose="03080902040302020200"/>
              <a:cs typeface="Baloo" panose="03080902040302020200"/>
              <a:sym typeface="Baloo" panose="03080902040302020200"/>
            </a:endParaRPr>
          </a:p>
        </p:txBody>
      </p:sp>
      <p:pic>
        <p:nvPicPr>
          <p:cNvPr id="5" name="Picture 4"/>
          <p:cNvPicPr>
            <a:picLocks noChangeAspect="1"/>
          </p:cNvPicPr>
          <p:nvPr/>
        </p:nvPicPr>
        <p:blipFill>
          <a:blip r:embed="rId3"/>
          <a:stretch>
            <a:fillRect/>
          </a:stretch>
        </p:blipFill>
        <p:spPr>
          <a:xfrm>
            <a:off x="3733800" y="2933700"/>
            <a:ext cx="10681970" cy="530542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7D8AAB"/>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r="64034" b="46738"/>
          <a:stretch>
            <a:fillRect/>
          </a:stretch>
        </p:blipFill>
        <p:spPr>
          <a:xfrm rot="-5400000" flipH="1">
            <a:off x="1041559" y="-1041559"/>
            <a:ext cx="4331875" cy="6415002"/>
          </a:xfrm>
          <a:prstGeom prst="rect">
            <a:avLst/>
          </a:prstGeom>
        </p:spPr>
      </p:pic>
      <p:grpSp>
        <p:nvGrpSpPr>
          <p:cNvPr id="3" name="Group 3"/>
          <p:cNvGrpSpPr/>
          <p:nvPr/>
        </p:nvGrpSpPr>
        <p:grpSpPr>
          <a:xfrm rot="0">
            <a:off x="2935320" y="1456611"/>
            <a:ext cx="12417360" cy="6486895"/>
            <a:chOff x="0" y="0"/>
            <a:chExt cx="9543015" cy="4985322"/>
          </a:xfrm>
        </p:grpSpPr>
        <p:sp>
          <p:nvSpPr>
            <p:cNvPr id="4" name="Freeform 4"/>
            <p:cNvSpPr/>
            <p:nvPr/>
          </p:nvSpPr>
          <p:spPr>
            <a:xfrm>
              <a:off x="0" y="0"/>
              <a:ext cx="9543066" cy="4985385"/>
            </a:xfrm>
            <a:custGeom>
              <a:avLst/>
              <a:gdLst/>
              <a:ahLst/>
              <a:cxnLst/>
              <a:rect l="l" t="t" r="r" b="b"/>
              <a:pathLst>
                <a:path w="9543066" h="4985385">
                  <a:moveTo>
                    <a:pt x="0" y="0"/>
                  </a:moveTo>
                  <a:lnTo>
                    <a:pt x="9543066" y="0"/>
                  </a:lnTo>
                  <a:lnTo>
                    <a:pt x="9543066" y="4985385"/>
                  </a:lnTo>
                  <a:lnTo>
                    <a:pt x="0" y="4985385"/>
                  </a:lnTo>
                  <a:lnTo>
                    <a:pt x="0" y="0"/>
                  </a:lnTo>
                  <a:close/>
                </a:path>
              </a:pathLst>
            </a:custGeom>
            <a:blipFill>
              <a:blip r:embed="rId2"/>
              <a:stretch>
                <a:fillRect l="-188" t="-1" r="-187"/>
              </a:stretch>
            </a:blipFill>
          </p:spPr>
        </p:sp>
      </p:grpSp>
      <p:sp>
        <p:nvSpPr>
          <p:cNvPr id="5" name="TextBox 5"/>
          <p:cNvSpPr txBox="1"/>
          <p:nvPr/>
        </p:nvSpPr>
        <p:spPr>
          <a:xfrm>
            <a:off x="6459412" y="100965"/>
            <a:ext cx="5369176" cy="927735"/>
          </a:xfrm>
          <a:prstGeom prst="rect">
            <a:avLst/>
          </a:prstGeom>
        </p:spPr>
        <p:txBody>
          <a:bodyPr lIns="0" tIns="0" rIns="0" bIns="0" rtlCol="0" anchor="t">
            <a:spAutoFit/>
          </a:bodyPr>
          <a:lstStyle/>
          <a:p>
            <a:pPr algn="l">
              <a:lnSpc>
                <a:spcPts val="7440"/>
              </a:lnSpc>
            </a:pPr>
            <a:r>
              <a:rPr lang="en-US" sz="5725">
                <a:solidFill>
                  <a:srgbClr val="000000"/>
                </a:solidFill>
                <a:latin typeface="Baloo" panose="03080902040302020200"/>
                <a:ea typeface="Baloo" panose="03080902040302020200"/>
                <a:cs typeface="Baloo" panose="03080902040302020200"/>
                <a:sym typeface="Baloo" panose="03080902040302020200"/>
              </a:rPr>
              <a:t>Phần đăng nhập</a:t>
            </a:r>
            <a:endParaRPr lang="en-US" sz="5725">
              <a:solidFill>
                <a:srgbClr val="000000"/>
              </a:solidFill>
              <a:latin typeface="Baloo" panose="03080902040302020200"/>
              <a:ea typeface="Baloo" panose="03080902040302020200"/>
              <a:cs typeface="Baloo" panose="03080902040302020200"/>
              <a:sym typeface="Baloo" panose="03080902040302020200"/>
            </a:endParaRPr>
          </a:p>
        </p:txBody>
      </p:sp>
      <p:sp>
        <p:nvSpPr>
          <p:cNvPr id="6" name="TextBox 6"/>
          <p:cNvSpPr txBox="1"/>
          <p:nvPr/>
        </p:nvSpPr>
        <p:spPr>
          <a:xfrm>
            <a:off x="2935320" y="8334030"/>
            <a:ext cx="11004153" cy="582930"/>
          </a:xfrm>
          <a:prstGeom prst="rect">
            <a:avLst/>
          </a:prstGeom>
        </p:spPr>
        <p:txBody>
          <a:bodyPr lIns="0" tIns="0" rIns="0" bIns="0" rtlCol="0" anchor="t">
            <a:spAutoFit/>
          </a:bodyPr>
          <a:lstStyle/>
          <a:p>
            <a:pPr algn="ctr">
              <a:lnSpc>
                <a:spcPts val="4680"/>
              </a:lnSpc>
              <a:spcBef>
                <a:spcPct val="0"/>
              </a:spcBef>
            </a:pPr>
            <a:r>
              <a:rPr lang="en-US" sz="3600">
                <a:solidFill>
                  <a:srgbClr val="FFFFFF"/>
                </a:solidFill>
                <a:latin typeface="Baloo" panose="03080902040302020200"/>
                <a:ea typeface="Baloo" panose="03080902040302020200"/>
                <a:cs typeface="Baloo" panose="03080902040302020200"/>
                <a:sym typeface="Baloo" panose="03080902040302020200"/>
              </a:rPr>
              <a:t>Giao diện đơn giản  gồm có tên tài khoản và mật khẩu</a:t>
            </a:r>
            <a:endParaRPr lang="en-US" sz="3600">
              <a:solidFill>
                <a:srgbClr val="FFFFFF"/>
              </a:solidFill>
              <a:latin typeface="Baloo" panose="03080902040302020200"/>
              <a:ea typeface="Baloo" panose="03080902040302020200"/>
              <a:cs typeface="Baloo" panose="03080902040302020200"/>
              <a:sym typeface="Baloo" panose="0308090204030202020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7D8AAB"/>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r="64034" b="46738"/>
          <a:stretch>
            <a:fillRect/>
          </a:stretch>
        </p:blipFill>
        <p:spPr>
          <a:xfrm rot="-5400000" flipH="1">
            <a:off x="1041559" y="-1041559"/>
            <a:ext cx="4331875" cy="6415002"/>
          </a:xfrm>
          <a:prstGeom prst="rect">
            <a:avLst/>
          </a:prstGeom>
        </p:spPr>
      </p:pic>
      <p:grpSp>
        <p:nvGrpSpPr>
          <p:cNvPr id="3" name="Group 3"/>
          <p:cNvGrpSpPr/>
          <p:nvPr/>
        </p:nvGrpSpPr>
        <p:grpSpPr>
          <a:xfrm rot="0">
            <a:off x="6782027" y="1621525"/>
            <a:ext cx="11334183" cy="7989411"/>
            <a:chOff x="0" y="0"/>
            <a:chExt cx="11192904" cy="7889824"/>
          </a:xfrm>
        </p:grpSpPr>
        <p:sp>
          <p:nvSpPr>
            <p:cNvPr id="4" name="Freeform 4"/>
            <p:cNvSpPr/>
            <p:nvPr/>
          </p:nvSpPr>
          <p:spPr>
            <a:xfrm>
              <a:off x="0" y="0"/>
              <a:ext cx="11192891" cy="7889875"/>
            </a:xfrm>
            <a:custGeom>
              <a:avLst/>
              <a:gdLst/>
              <a:ahLst/>
              <a:cxnLst/>
              <a:rect l="l" t="t" r="r" b="b"/>
              <a:pathLst>
                <a:path w="11192891" h="7889875">
                  <a:moveTo>
                    <a:pt x="0" y="0"/>
                  </a:moveTo>
                  <a:lnTo>
                    <a:pt x="11192891" y="0"/>
                  </a:lnTo>
                  <a:lnTo>
                    <a:pt x="11192891" y="7889875"/>
                  </a:lnTo>
                  <a:lnTo>
                    <a:pt x="0" y="7889875"/>
                  </a:lnTo>
                  <a:lnTo>
                    <a:pt x="0" y="0"/>
                  </a:lnTo>
                  <a:close/>
                </a:path>
              </a:pathLst>
            </a:custGeom>
            <a:blipFill>
              <a:blip r:embed="rId2"/>
              <a:stretch>
                <a:fillRect/>
              </a:stretch>
            </a:blipFill>
          </p:spPr>
        </p:sp>
      </p:grpSp>
      <p:sp>
        <p:nvSpPr>
          <p:cNvPr id="5" name="TextBox 5"/>
          <p:cNvSpPr txBox="1"/>
          <p:nvPr/>
        </p:nvSpPr>
        <p:spPr>
          <a:xfrm>
            <a:off x="5947172" y="248793"/>
            <a:ext cx="6994522" cy="927735"/>
          </a:xfrm>
          <a:prstGeom prst="rect">
            <a:avLst/>
          </a:prstGeom>
        </p:spPr>
        <p:txBody>
          <a:bodyPr lIns="0" tIns="0" rIns="0" bIns="0" rtlCol="0" anchor="t">
            <a:spAutoFit/>
          </a:bodyPr>
          <a:lstStyle/>
          <a:p>
            <a:pPr algn="l">
              <a:lnSpc>
                <a:spcPts val="7440"/>
              </a:lnSpc>
            </a:pPr>
            <a:r>
              <a:rPr lang="en-US" sz="5725">
                <a:solidFill>
                  <a:srgbClr val="000000"/>
                </a:solidFill>
                <a:latin typeface="Baloo" panose="03080902040302020200"/>
                <a:ea typeface="Baloo" panose="03080902040302020200"/>
                <a:cs typeface="Baloo" panose="03080902040302020200"/>
                <a:sym typeface="Baloo" panose="03080902040302020200"/>
              </a:rPr>
              <a:t>Giao diện sv đăng ký</a:t>
            </a:r>
            <a:endParaRPr lang="en-US" sz="5725">
              <a:solidFill>
                <a:srgbClr val="000000"/>
              </a:solidFill>
              <a:latin typeface="Baloo" panose="03080902040302020200"/>
              <a:ea typeface="Baloo" panose="03080902040302020200"/>
              <a:cs typeface="Baloo" panose="03080902040302020200"/>
              <a:sym typeface="Baloo" panose="03080902040302020200"/>
            </a:endParaRPr>
          </a:p>
        </p:txBody>
      </p:sp>
      <p:sp>
        <p:nvSpPr>
          <p:cNvPr id="6" name="TextBox 6"/>
          <p:cNvSpPr txBox="1"/>
          <p:nvPr/>
        </p:nvSpPr>
        <p:spPr>
          <a:xfrm>
            <a:off x="152400" y="1621790"/>
            <a:ext cx="6354445" cy="2280920"/>
          </a:xfrm>
          <a:prstGeom prst="rect">
            <a:avLst/>
          </a:prstGeom>
        </p:spPr>
        <p:txBody>
          <a:bodyPr lIns="0" tIns="0" rIns="0" bIns="0" rtlCol="0" anchor="t">
            <a:noAutofit/>
          </a:bodyPr>
          <a:lstStyle/>
          <a:p>
            <a:pPr algn="l">
              <a:lnSpc>
                <a:spcPts val="4270"/>
              </a:lnSpc>
            </a:pPr>
            <a:r>
              <a:rPr lang="en-US" sz="3285">
                <a:solidFill>
                  <a:srgbClr val="FFFFFF"/>
                </a:solidFill>
                <a:latin typeface="Baloo" panose="03080902040302020200"/>
                <a:ea typeface="Baloo" panose="03080902040302020200"/>
                <a:cs typeface="Baloo" panose="03080902040302020200"/>
                <a:sym typeface="Baloo" panose="03080902040302020200"/>
              </a:rPr>
              <a:t>Giao diện sinh viên giúp xem được thông tin MSSV,Tên SV, Mã Môn, Tên Môn</a:t>
            </a:r>
            <a:endParaRPr lang="en-US" sz="3285">
              <a:solidFill>
                <a:srgbClr val="FFFFFF"/>
              </a:solidFill>
              <a:latin typeface="Baloo" panose="03080902040302020200"/>
              <a:ea typeface="Baloo" panose="03080902040302020200"/>
              <a:cs typeface="Baloo" panose="03080902040302020200"/>
              <a:sym typeface="Baloo" panose="0308090204030202020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7D8AAB"/>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r="64034" b="46738"/>
          <a:stretch>
            <a:fillRect/>
          </a:stretch>
        </p:blipFill>
        <p:spPr>
          <a:xfrm rot="-5400000" flipH="1">
            <a:off x="856615" y="-856615"/>
            <a:ext cx="3562350" cy="5275580"/>
          </a:xfrm>
          <a:prstGeom prst="rect">
            <a:avLst/>
          </a:prstGeom>
        </p:spPr>
      </p:pic>
      <p:sp>
        <p:nvSpPr>
          <p:cNvPr id="3" name="Freeform 3"/>
          <p:cNvSpPr/>
          <p:nvPr/>
        </p:nvSpPr>
        <p:spPr>
          <a:xfrm>
            <a:off x="6842174" y="1468403"/>
            <a:ext cx="11029943" cy="7789897"/>
          </a:xfrm>
          <a:custGeom>
            <a:avLst/>
            <a:gdLst/>
            <a:ahLst/>
            <a:cxnLst/>
            <a:rect l="l" t="t" r="r" b="b"/>
            <a:pathLst>
              <a:path w="11029943" h="7789897">
                <a:moveTo>
                  <a:pt x="0" y="0"/>
                </a:moveTo>
                <a:lnTo>
                  <a:pt x="11029943" y="0"/>
                </a:lnTo>
                <a:lnTo>
                  <a:pt x="11029943" y="7789897"/>
                </a:lnTo>
                <a:lnTo>
                  <a:pt x="0" y="7789897"/>
                </a:lnTo>
                <a:lnTo>
                  <a:pt x="0" y="0"/>
                </a:lnTo>
                <a:close/>
              </a:path>
            </a:pathLst>
          </a:custGeom>
          <a:blipFill>
            <a:blip r:embed="rId2"/>
            <a:stretch>
              <a:fillRect/>
            </a:stretch>
          </a:blipFill>
        </p:spPr>
      </p:sp>
      <p:sp>
        <p:nvSpPr>
          <p:cNvPr id="4" name="TextBox 4"/>
          <p:cNvSpPr txBox="1"/>
          <p:nvPr/>
        </p:nvSpPr>
        <p:spPr>
          <a:xfrm>
            <a:off x="4124263" y="248793"/>
            <a:ext cx="10039474" cy="927735"/>
          </a:xfrm>
          <a:prstGeom prst="rect">
            <a:avLst/>
          </a:prstGeom>
        </p:spPr>
        <p:txBody>
          <a:bodyPr lIns="0" tIns="0" rIns="0" bIns="0" rtlCol="0" anchor="t">
            <a:spAutoFit/>
          </a:bodyPr>
          <a:lstStyle/>
          <a:p>
            <a:pPr algn="l">
              <a:lnSpc>
                <a:spcPts val="7440"/>
              </a:lnSpc>
            </a:pPr>
            <a:r>
              <a:rPr lang="en-US" sz="5725">
                <a:solidFill>
                  <a:srgbClr val="000000"/>
                </a:solidFill>
                <a:latin typeface="Baloo" panose="03080902040302020200"/>
                <a:ea typeface="Baloo" panose="03080902040302020200"/>
                <a:cs typeface="Baloo" panose="03080902040302020200"/>
                <a:sym typeface="Baloo" panose="03080902040302020200"/>
              </a:rPr>
              <a:t>Giao diện danh sách phòng thi</a:t>
            </a:r>
            <a:endParaRPr lang="en-US" sz="5725">
              <a:solidFill>
                <a:srgbClr val="000000"/>
              </a:solidFill>
              <a:latin typeface="Baloo" panose="03080902040302020200"/>
              <a:ea typeface="Baloo" panose="03080902040302020200"/>
              <a:cs typeface="Baloo" panose="03080902040302020200"/>
              <a:sym typeface="Baloo" panose="03080902040302020200"/>
            </a:endParaRPr>
          </a:p>
        </p:txBody>
      </p:sp>
      <p:sp>
        <p:nvSpPr>
          <p:cNvPr id="5" name="TextBox 5"/>
          <p:cNvSpPr txBox="1"/>
          <p:nvPr/>
        </p:nvSpPr>
        <p:spPr>
          <a:xfrm>
            <a:off x="228600" y="1485900"/>
            <a:ext cx="6362700" cy="3276600"/>
          </a:xfrm>
          <a:prstGeom prst="rect">
            <a:avLst/>
          </a:prstGeom>
        </p:spPr>
        <p:txBody>
          <a:bodyPr lIns="0" tIns="0" rIns="0" bIns="0" rtlCol="0" anchor="t">
            <a:noAutofit/>
          </a:bodyPr>
          <a:lstStyle/>
          <a:p>
            <a:pPr algn="l">
              <a:lnSpc>
                <a:spcPts val="4270"/>
              </a:lnSpc>
            </a:pPr>
            <a:r>
              <a:rPr lang="en-US" sz="3285">
                <a:solidFill>
                  <a:srgbClr val="FFFFFF"/>
                </a:solidFill>
                <a:latin typeface="Baloo" panose="03080902040302020200"/>
                <a:ea typeface="Baloo" panose="03080902040302020200"/>
                <a:cs typeface="Baloo" panose="03080902040302020200"/>
                <a:sym typeface="Baloo" panose="03080902040302020200"/>
              </a:rPr>
              <a:t>Giao diện phòng thi giúp xem được ngày thi , ca thi, phòng thi, sức chứa của phòng thi</a:t>
            </a:r>
            <a:endParaRPr lang="en-US" sz="3285">
              <a:solidFill>
                <a:srgbClr val="FFFFFF"/>
              </a:solidFill>
              <a:latin typeface="Baloo" panose="03080902040302020200"/>
              <a:ea typeface="Baloo" panose="03080902040302020200"/>
              <a:cs typeface="Baloo" panose="03080902040302020200"/>
              <a:sym typeface="Baloo" panose="0308090204030202020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7D8AAB"/>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r="64034" b="46738"/>
          <a:stretch>
            <a:fillRect/>
          </a:stretch>
        </p:blipFill>
        <p:spPr>
          <a:xfrm rot="-5400000" flipH="1">
            <a:off x="909320" y="-968375"/>
            <a:ext cx="4025900" cy="5962015"/>
          </a:xfrm>
          <a:prstGeom prst="rect">
            <a:avLst/>
          </a:prstGeom>
        </p:spPr>
      </p:pic>
      <p:sp>
        <p:nvSpPr>
          <p:cNvPr id="3" name="Freeform 3"/>
          <p:cNvSpPr/>
          <p:nvPr/>
        </p:nvSpPr>
        <p:spPr>
          <a:xfrm>
            <a:off x="6218656" y="1441127"/>
            <a:ext cx="11753565" cy="7404746"/>
          </a:xfrm>
          <a:custGeom>
            <a:avLst/>
            <a:gdLst/>
            <a:ahLst/>
            <a:cxnLst/>
            <a:rect l="l" t="t" r="r" b="b"/>
            <a:pathLst>
              <a:path w="11753565" h="7404746">
                <a:moveTo>
                  <a:pt x="0" y="0"/>
                </a:moveTo>
                <a:lnTo>
                  <a:pt x="11753565" y="0"/>
                </a:lnTo>
                <a:lnTo>
                  <a:pt x="11753565" y="7404746"/>
                </a:lnTo>
                <a:lnTo>
                  <a:pt x="0" y="7404746"/>
                </a:lnTo>
                <a:lnTo>
                  <a:pt x="0" y="0"/>
                </a:lnTo>
                <a:close/>
              </a:path>
            </a:pathLst>
          </a:custGeom>
          <a:blipFill>
            <a:blip r:embed="rId2"/>
            <a:stretch>
              <a:fillRect/>
            </a:stretch>
          </a:blipFill>
        </p:spPr>
      </p:sp>
      <p:sp>
        <p:nvSpPr>
          <p:cNvPr id="4" name="TextBox 4"/>
          <p:cNvSpPr txBox="1"/>
          <p:nvPr/>
        </p:nvSpPr>
        <p:spPr>
          <a:xfrm>
            <a:off x="4911725" y="266700"/>
            <a:ext cx="8464550" cy="953770"/>
          </a:xfrm>
          <a:prstGeom prst="rect">
            <a:avLst/>
          </a:prstGeom>
        </p:spPr>
        <p:txBody>
          <a:bodyPr wrap="square" lIns="0" tIns="0" rIns="0" bIns="0" rtlCol="0" anchor="t">
            <a:spAutoFit/>
          </a:bodyPr>
          <a:lstStyle/>
          <a:p>
            <a:pPr algn="l">
              <a:lnSpc>
                <a:spcPts val="7440"/>
              </a:lnSpc>
            </a:pPr>
            <a:r>
              <a:rPr lang="en-US" sz="5725">
                <a:solidFill>
                  <a:srgbClr val="000000"/>
                </a:solidFill>
                <a:latin typeface="Baloo" panose="03080902040302020200"/>
                <a:ea typeface="Baloo" panose="03080902040302020200"/>
                <a:cs typeface="Baloo" panose="03080902040302020200"/>
                <a:sym typeface="Baloo" panose="03080902040302020200"/>
              </a:rPr>
              <a:t>Giao diện kết quả xếp lịch</a:t>
            </a:r>
            <a:endParaRPr lang="en-US" sz="5725">
              <a:solidFill>
                <a:srgbClr val="000000"/>
              </a:solidFill>
              <a:latin typeface="Baloo" panose="03080902040302020200"/>
              <a:ea typeface="Baloo" panose="03080902040302020200"/>
              <a:cs typeface="Baloo" panose="03080902040302020200"/>
              <a:sym typeface="Baloo" panose="03080902040302020200"/>
            </a:endParaRPr>
          </a:p>
        </p:txBody>
      </p:sp>
      <p:sp>
        <p:nvSpPr>
          <p:cNvPr id="5" name="TextBox 5"/>
          <p:cNvSpPr txBox="1"/>
          <p:nvPr/>
        </p:nvSpPr>
        <p:spPr>
          <a:xfrm>
            <a:off x="243205" y="1485900"/>
            <a:ext cx="5660390" cy="4709160"/>
          </a:xfrm>
          <a:prstGeom prst="rect">
            <a:avLst/>
          </a:prstGeom>
        </p:spPr>
        <p:txBody>
          <a:bodyPr lIns="0" tIns="0" rIns="0" bIns="0" rtlCol="0" anchor="t">
            <a:noAutofit/>
          </a:bodyPr>
          <a:lstStyle/>
          <a:p>
            <a:pPr algn="l">
              <a:lnSpc>
                <a:spcPts val="4270"/>
              </a:lnSpc>
            </a:pPr>
            <a:r>
              <a:rPr lang="en-US" sz="3285">
                <a:solidFill>
                  <a:srgbClr val="FFFFFF"/>
                </a:solidFill>
                <a:latin typeface="Baloo" panose="03080902040302020200"/>
                <a:ea typeface="Baloo" panose="03080902040302020200"/>
                <a:cs typeface="Baloo" panose="03080902040302020200"/>
                <a:sym typeface="Baloo" panose="03080902040302020200"/>
              </a:rPr>
              <a:t>Giao diện kết quả xếp lịch giúp xem được Mã  Môn , Tên Môn , Ngày Thi , Ca Thi , Phòng Thi , Sĩ Số</a:t>
            </a:r>
            <a:endParaRPr lang="en-US" sz="3285">
              <a:solidFill>
                <a:srgbClr val="FFFFFF"/>
              </a:solidFill>
              <a:latin typeface="Baloo" panose="03080902040302020200"/>
              <a:ea typeface="Baloo" panose="03080902040302020200"/>
              <a:cs typeface="Baloo" panose="03080902040302020200"/>
              <a:sym typeface="Baloo" panose="0308090204030202020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7D8AAB"/>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r="64034" b="46738"/>
          <a:stretch>
            <a:fillRect/>
          </a:stretch>
        </p:blipFill>
        <p:spPr>
          <a:xfrm rot="-5400000" flipH="1">
            <a:off x="1041559" y="-1041559"/>
            <a:ext cx="4331875" cy="6415002"/>
          </a:xfrm>
          <a:prstGeom prst="rect">
            <a:avLst/>
          </a:prstGeom>
        </p:spPr>
      </p:pic>
      <p:grpSp>
        <p:nvGrpSpPr>
          <p:cNvPr id="3" name="Group 3"/>
          <p:cNvGrpSpPr/>
          <p:nvPr/>
        </p:nvGrpSpPr>
        <p:grpSpPr>
          <a:xfrm rot="0">
            <a:off x="3415905" y="1238250"/>
            <a:ext cx="11456189" cy="7397581"/>
            <a:chOff x="0" y="0"/>
            <a:chExt cx="9438208" cy="6094514"/>
          </a:xfrm>
        </p:grpSpPr>
        <p:sp>
          <p:nvSpPr>
            <p:cNvPr id="4" name="Freeform 4"/>
            <p:cNvSpPr/>
            <p:nvPr/>
          </p:nvSpPr>
          <p:spPr>
            <a:xfrm>
              <a:off x="0" y="0"/>
              <a:ext cx="9438259" cy="6094476"/>
            </a:xfrm>
            <a:custGeom>
              <a:avLst/>
              <a:gdLst/>
              <a:ahLst/>
              <a:cxnLst/>
              <a:rect l="l" t="t" r="r" b="b"/>
              <a:pathLst>
                <a:path w="9438259" h="6094476">
                  <a:moveTo>
                    <a:pt x="0" y="0"/>
                  </a:moveTo>
                  <a:lnTo>
                    <a:pt x="9438259" y="0"/>
                  </a:lnTo>
                  <a:lnTo>
                    <a:pt x="9438259" y="6094476"/>
                  </a:lnTo>
                  <a:lnTo>
                    <a:pt x="0" y="6094476"/>
                  </a:lnTo>
                  <a:lnTo>
                    <a:pt x="0" y="0"/>
                  </a:lnTo>
                  <a:close/>
                </a:path>
              </a:pathLst>
            </a:custGeom>
            <a:blipFill>
              <a:blip r:embed="rId2"/>
              <a:stretch>
                <a:fillRect/>
              </a:stretch>
            </a:blipFill>
          </p:spPr>
        </p:sp>
      </p:grpSp>
      <p:sp>
        <p:nvSpPr>
          <p:cNvPr id="5" name="TextBox 5"/>
          <p:cNvSpPr txBox="1"/>
          <p:nvPr/>
        </p:nvSpPr>
        <p:spPr>
          <a:xfrm>
            <a:off x="5646739" y="310515"/>
            <a:ext cx="6994522" cy="927735"/>
          </a:xfrm>
          <a:prstGeom prst="rect">
            <a:avLst/>
          </a:prstGeom>
        </p:spPr>
        <p:txBody>
          <a:bodyPr lIns="0" tIns="0" rIns="0" bIns="0" rtlCol="0" anchor="t">
            <a:spAutoFit/>
          </a:bodyPr>
          <a:lstStyle/>
          <a:p>
            <a:pPr algn="l">
              <a:lnSpc>
                <a:spcPts val="7440"/>
              </a:lnSpc>
            </a:pPr>
            <a:r>
              <a:rPr lang="en-US" sz="5725">
                <a:solidFill>
                  <a:srgbClr val="000000"/>
                </a:solidFill>
                <a:latin typeface="Baloo" panose="03080902040302020200"/>
                <a:ea typeface="Baloo" panose="03080902040302020200"/>
                <a:cs typeface="Baloo" panose="03080902040302020200"/>
                <a:sym typeface="Baloo" panose="03080902040302020200"/>
              </a:rPr>
              <a:t>Thông tin phòng thi</a:t>
            </a:r>
            <a:endParaRPr lang="en-US" sz="5725">
              <a:solidFill>
                <a:srgbClr val="000000"/>
              </a:solidFill>
              <a:latin typeface="Baloo" panose="03080902040302020200"/>
              <a:ea typeface="Baloo" panose="03080902040302020200"/>
              <a:cs typeface="Baloo" panose="03080902040302020200"/>
              <a:sym typeface="Baloo" panose="03080902040302020200"/>
            </a:endParaRPr>
          </a:p>
        </p:txBody>
      </p:sp>
      <p:sp>
        <p:nvSpPr>
          <p:cNvPr id="6" name="TextBox 6"/>
          <p:cNvSpPr txBox="1"/>
          <p:nvPr/>
        </p:nvSpPr>
        <p:spPr>
          <a:xfrm>
            <a:off x="0" y="8652510"/>
            <a:ext cx="18288000" cy="1173480"/>
          </a:xfrm>
          <a:prstGeom prst="rect">
            <a:avLst/>
          </a:prstGeom>
        </p:spPr>
        <p:txBody>
          <a:bodyPr lIns="0" tIns="0" rIns="0" bIns="0" rtlCol="0" anchor="t">
            <a:spAutoFit/>
          </a:bodyPr>
          <a:lstStyle/>
          <a:p>
            <a:pPr algn="ctr">
              <a:lnSpc>
                <a:spcPts val="4680"/>
              </a:lnSpc>
              <a:spcBef>
                <a:spcPct val="0"/>
              </a:spcBef>
            </a:pPr>
            <a:r>
              <a:rPr lang="en-US" sz="3600">
                <a:solidFill>
                  <a:srgbClr val="FEFEFE"/>
                </a:solidFill>
                <a:latin typeface="Baloo" panose="03080902040302020200"/>
                <a:ea typeface="Baloo" panose="03080902040302020200"/>
                <a:cs typeface="Baloo" panose="03080902040302020200"/>
                <a:sym typeface="Baloo" panose="03080902040302020200"/>
              </a:rPr>
              <a:t>Giao diện giúp người dùng xem được số lượng sinh viên cùng tên và mssv cùng phòng và ca thi ngày hôm đó </a:t>
            </a:r>
            <a:endParaRPr lang="en-US" sz="3600">
              <a:solidFill>
                <a:srgbClr val="FEFEFE"/>
              </a:solidFill>
              <a:latin typeface="Baloo" panose="03080902040302020200"/>
              <a:ea typeface="Baloo" panose="03080902040302020200"/>
              <a:cs typeface="Baloo" panose="03080902040302020200"/>
              <a:sym typeface="Baloo" panose="0308090204030202020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AEF"/>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rot="-7408560">
            <a:off x="4499353" y="-533791"/>
            <a:ext cx="9289294" cy="10369810"/>
          </a:xfrm>
          <a:prstGeom prst="rect">
            <a:avLst/>
          </a:prstGeom>
        </p:spPr>
      </p:pic>
      <p:sp>
        <p:nvSpPr>
          <p:cNvPr id="3" name="TextBox 3"/>
          <p:cNvSpPr txBox="1"/>
          <p:nvPr/>
        </p:nvSpPr>
        <p:spPr>
          <a:xfrm>
            <a:off x="4421810" y="3372107"/>
            <a:ext cx="9444380" cy="2743200"/>
          </a:xfrm>
          <a:prstGeom prst="rect">
            <a:avLst/>
          </a:prstGeom>
        </p:spPr>
        <p:txBody>
          <a:bodyPr lIns="0" tIns="0" rIns="0" bIns="0" rtlCol="0" anchor="t">
            <a:spAutoFit/>
          </a:bodyPr>
          <a:lstStyle/>
          <a:p>
            <a:pPr algn="ctr">
              <a:lnSpc>
                <a:spcPts val="10800"/>
              </a:lnSpc>
            </a:pPr>
            <a:r>
              <a:rPr lang="en-US" sz="9000">
                <a:solidFill>
                  <a:srgbClr val="000000"/>
                </a:solidFill>
                <a:latin typeface="Baloo" panose="03080902040302020200"/>
                <a:ea typeface="Baloo" panose="03080902040302020200"/>
                <a:cs typeface="Baloo" panose="03080902040302020200"/>
                <a:sym typeface="Baloo" panose="03080902040302020200"/>
              </a:rPr>
              <a:t>Xin cảm ơn thầy và các bạn !</a:t>
            </a:r>
            <a:endParaRPr lang="en-US" sz="9000">
              <a:solidFill>
                <a:srgbClr val="000000"/>
              </a:solidFill>
              <a:latin typeface="Baloo" panose="03080902040302020200"/>
              <a:ea typeface="Baloo" panose="03080902040302020200"/>
              <a:cs typeface="Baloo" panose="03080902040302020200"/>
              <a:sym typeface="Baloo" panose="03080902040302020200"/>
            </a:endParaRPr>
          </a:p>
        </p:txBody>
      </p:sp>
      <p:pic>
        <p:nvPicPr>
          <p:cNvPr id="4" name="Picture 4"/>
          <p:cNvPicPr>
            <a:picLocks noChangeAspect="1"/>
          </p:cNvPicPr>
          <p:nvPr/>
        </p:nvPicPr>
        <p:blipFill>
          <a:blip r:embed="rId2"/>
          <a:srcRect l="62988" t="67035"/>
          <a:stretch>
            <a:fillRect/>
          </a:stretch>
        </p:blipFill>
        <p:spPr>
          <a:xfrm rot="5400000">
            <a:off x="-202101" y="6179915"/>
            <a:ext cx="4312939" cy="3841375"/>
          </a:xfrm>
          <a:prstGeom prst="rect">
            <a:avLst/>
          </a:prstGeom>
        </p:spPr>
      </p:pic>
      <p:pic>
        <p:nvPicPr>
          <p:cNvPr id="5" name="Picture 5"/>
          <p:cNvPicPr>
            <a:picLocks noChangeAspect="1"/>
          </p:cNvPicPr>
          <p:nvPr/>
        </p:nvPicPr>
        <p:blipFill>
          <a:blip r:embed="rId3"/>
          <a:srcRect/>
          <a:stretch>
            <a:fillRect/>
          </a:stretch>
        </p:blipFill>
        <p:spPr>
          <a:xfrm>
            <a:off x="11640283" y="-4239082"/>
            <a:ext cx="8152648" cy="847816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1265</Words>
  <Application>WPS Presentation</Application>
  <PresentationFormat>On-screen Show (4:3)</PresentationFormat>
  <Paragraphs>55</Paragraphs>
  <Slides>11</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11</vt:i4>
      </vt:variant>
    </vt:vector>
  </HeadingPairs>
  <TitlesOfParts>
    <vt:vector size="22" baseType="lpstr">
      <vt:lpstr>Arial</vt:lpstr>
      <vt:lpstr>SimSun</vt:lpstr>
      <vt:lpstr>Wingdings</vt:lpstr>
      <vt:lpstr>Baloo</vt:lpstr>
      <vt:lpstr>Arial</vt:lpstr>
      <vt:lpstr>Clear Sans Bold</vt:lpstr>
      <vt:lpstr>Clear Sans</vt:lpstr>
      <vt:lpstr>Microsoft YaHei</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 Lý thuyết đồ thị.pptx</dc:title>
  <dc:creator/>
  <cp:lastModifiedBy>USER</cp:lastModifiedBy>
  <cp:revision>2</cp:revision>
  <dcterms:created xsi:type="dcterms:W3CDTF">2006-08-16T00:00:00Z</dcterms:created>
  <dcterms:modified xsi:type="dcterms:W3CDTF">2025-12-24T13:28:53Z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B3858912A26D4F74B15238848CCEFAC2_12</vt:lpwstr>
  </property>
  <property fmtid="{D5CDD505-2E9C-101B-9397-08002B2CF9AE}" pid="3" name="KSOProductBuildVer">
    <vt:lpwstr>1033-12.2.0.13489</vt:lpwstr>
  </property>
</Properties>
</file>